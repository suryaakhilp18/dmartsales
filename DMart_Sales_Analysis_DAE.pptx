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4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26.png"/><Relationship Id="rId10" Type="http://schemas.openxmlformats.org/officeDocument/2006/relationships/image" Target="../media/image43.png"/><Relationship Id="rId4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8.png"/><Relationship Id="rId7" Type="http://schemas.openxmlformats.org/officeDocument/2006/relationships/image" Target="../media/image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4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1.png"/><Relationship Id="rId7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291840" cy="566928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87982"/>
            <a:ext cx="3072384" cy="396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6002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D9692E"/>
                </a:solidFill>
                <a:latin typeface="Calibri"/>
              </a:rPr>
              <a:t>DATA ANALYSIS ESSENTIALS  ·  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B2654"/>
                </a:solidFill>
                <a:latin typeface="Cambria"/>
              </a:rPr>
              <a:t>Smart Retail Sales Analysis</a:t>
            </a:r>
          </a:p>
          <a:p>
            <a:pPr algn="l"/>
            <a:r>
              <a:rPr sz="4200" b="1" i="0">
                <a:solidFill>
                  <a:srgbClr val="1B2654"/>
                </a:solidFill>
                <a:latin typeface="Cambria"/>
              </a:rPr>
              <a:t>&amp; 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B6680"/>
                </a:solidFill>
                <a:latin typeface="Calibri"/>
              </a:rPr>
              <a:t>DMart Sales Dataset (2011 – 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A7B1C8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654"/>
                </a:solidFill>
                <a:latin typeface="Calibri"/>
              </a:rPr>
              <a:t>S. Leela Venkata Krishna Reddy</a:t>
            </a:r>
          </a:p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25B11CS861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4937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654"/>
                </a:solidFill>
                <a:latin typeface="Calibri"/>
              </a:rPr>
              <a:t>P. Surya Akhil</a:t>
            </a:r>
          </a:p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25B11CS717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9377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654"/>
                </a:solidFill>
                <a:latin typeface="Calibri"/>
              </a:rPr>
              <a:t>K. Surya Raja Mokshagna</a:t>
            </a:r>
          </a:p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25B11CS453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7B1C8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27832" cy="4663440"/>
          </a:xfrm>
          <a:prstGeom prst="roundRect">
            <a:avLst>
              <a:gd name="adj" fmla="val 509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778240" y="1417320"/>
            <a:ext cx="685800" cy="68580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Databas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690" y="158877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2640" y="1417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Collect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0" y="2496312"/>
            <a:ext cx="685800" cy="68580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Broom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690" y="2667762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92640" y="2496312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Clean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0" y="3575304"/>
            <a:ext cx="685800" cy="68580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MagnifyingGlassChar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690" y="3746754"/>
            <a:ext cx="342900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92640" y="3575304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Analyze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4654296"/>
            <a:ext cx="685800" cy="68580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Ro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9690" y="4825746"/>
            <a:ext cx="3429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0" y="4654296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2654"/>
                </a:solidFill>
                <a:latin typeface="Cambria"/>
              </a:rPr>
              <a:t>Predict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92024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BookOpen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80260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783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Abstract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1999" y="192024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Lightbulb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19" y="2080260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0679" y="1783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Introduction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00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MagnifyingGlassChar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080260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89719" y="17830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System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089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2959" y="342900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Database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3589020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91640" y="32918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Dataset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1089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1999" y="342900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LaptopCode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2019" y="3589020"/>
            <a:ext cx="320040" cy="320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40679" y="32918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Requirements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1089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21040" y="3429000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ListCheck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060" y="358902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89719" y="32918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Methodology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6177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2959" y="493775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Code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980" y="5097779"/>
            <a:ext cx="320040" cy="3200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691640" y="4800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5074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Implementation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79" y="46177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571999" y="493775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FaChartColumn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2019" y="5097779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40679" y="4800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5074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Results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19" y="46177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321040" y="493775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FaTrophy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1060" y="5097779"/>
            <a:ext cx="320040" cy="3200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189719" y="48006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9692E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19" y="5074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01 ·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1091672" cy="2011680"/>
          </a:xfrm>
          <a:prstGeom prst="roundRect">
            <a:avLst>
              <a:gd name="adj" fmla="val 818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We analyze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seven years of DMart sales data (2011 – 2017)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to understand what sells, where and when — and train machine learning models to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predict future sales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, helping stores plan stock and make smarter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2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Broo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256532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Clean the data and add useful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hartPi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4256532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21024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Find trends with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37376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Ro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4256532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37376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Train models to forecast 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3840480"/>
            <a:ext cx="2651760" cy="2331720"/>
          </a:xfrm>
          <a:prstGeom prst="roundRect">
            <a:avLst>
              <a:gd name="adj" fmla="val 7058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53728" y="409651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ChartLin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3748" y="4256532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53728" y="4892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5285232"/>
            <a:ext cx="2194560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Share insights through a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02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Why Retail Sales Data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Retail businesses generate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large volumes of sales data every day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. Analyzing it helps understand: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Box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788920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Product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39312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730752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LocationD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7912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3639312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Regional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9704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CalendarDay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1830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489704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Seasonal demand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0096"/>
            <a:ext cx="5120640" cy="7315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543153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68696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63040" y="5340096"/>
            <a:ext cx="402335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Customer purchasing behavior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1600200"/>
            <a:ext cx="5605272" cy="4572000"/>
          </a:xfrm>
          <a:prstGeom prst="roundRect">
            <a:avLst>
              <a:gd name="adj" fmla="val 3599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THE CHALLENGE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2860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Manual analysis of large datasets is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time-consuming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and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error-prone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49039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OUR APPROACH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0624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B2654"/>
                </a:solidFill>
                <a:latin typeface="Calibri"/>
              </a:rPr>
              <a:t>Use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data analytics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and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machine learning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 to analyze sales and </a:t>
            </a:r>
            <a:r>
              <a:rPr sz="2000" b="1" i="0">
                <a:solidFill>
                  <a:srgbClr val="1B2654"/>
                </a:solidFill>
                <a:latin typeface="Calibri"/>
              </a:rPr>
              <a:t>forecast future demand</a:t>
            </a:r>
            <a:r>
              <a:rPr sz="2000" b="0" i="0">
                <a:solidFill>
                  <a:srgbClr val="1B265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03 · 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HOW IT WORKS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03520" cy="804672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13969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FileExce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7685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011680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Data kept in Excel / CSV 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303520" cy="804672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09981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Calculato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3697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2971800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Analysis done manually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03520" cy="804672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059936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HourglassHalf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97096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3931920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B2654"/>
                </a:solidFill>
                <a:latin typeface="Calibri"/>
              </a:rPr>
              <a:t>Limited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201168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201168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Slow and time-consuming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201168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201168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Hard to handle large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97180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297180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Missing and messy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297180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17152" y="297180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Trends are hard to spot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393192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9672" y="393192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No demand forecasting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4272" y="3931920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17152" y="3931920"/>
            <a:ext cx="22860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Poor inventory planning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074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1B2654"/>
                </a:solidFill>
                <a:latin typeface="Calibri"/>
              </a:rPr>
              <a:t>Our dataset: </a:t>
            </a:r>
            <a:r>
              <a:rPr sz="1900" b="1" i="0">
                <a:solidFill>
                  <a:srgbClr val="1B2654"/>
                </a:solidFill>
                <a:latin typeface="Calibri"/>
              </a:rPr>
              <a:t>18,041 sales records</a:t>
            </a:r>
            <a:r>
              <a:rPr sz="1900" b="0" i="0">
                <a:solidFill>
                  <a:srgbClr val="1B2654"/>
                </a:solidFill>
                <a:latin typeface="Calibri"/>
              </a:rPr>
              <a:t> from </a:t>
            </a:r>
            <a:r>
              <a:rPr sz="1900" b="1" i="0">
                <a:solidFill>
                  <a:srgbClr val="1B2654"/>
                </a:solidFill>
                <a:latin typeface="Calibri"/>
              </a:rPr>
              <a:t>2011 to 2017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03 · 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Broo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01625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Fix dates, fill gaps, check unusual values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2743200"/>
            <a:ext cx="128016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64992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WandMagicSparkl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016252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21024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Add useful columns like year, month and profit margin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2743200"/>
            <a:ext cx="128016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81344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37376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MagnifyingGlass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016252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37376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Charts on sales, products, customers and regions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51392" y="2743200"/>
            <a:ext cx="128016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97696" y="1600200"/>
            <a:ext cx="2651760" cy="2514600"/>
          </a:xfrm>
          <a:prstGeom prst="roundRect">
            <a:avLst>
              <a:gd name="adj" fmla="val 654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53728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Ro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3748" y="2016252"/>
            <a:ext cx="320040" cy="320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53728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3044952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Train 3 models and keep the best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BENEFITS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Bo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212080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63040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Faster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64992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47872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aEy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5212080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279392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Clear insights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364224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FaArrowTrendU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384" y="5212080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95744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Sales forecasts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97696" y="48920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180576" y="50749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7736" y="5212080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12096" y="489204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B2654"/>
                </a:solidFill>
                <a:latin typeface="Calibri"/>
              </a:rPr>
              <a:t>Better stock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04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Dataset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Order Date / Ship Date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When the order was placed and shipped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Customer Name, Segment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Who bought (Consumer, Corporate, Home Office)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State, City, Region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Where the sale happened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Category, Sub-Category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Product group (3 categories, 17 sub-categories)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Product Name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Item purchased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Ship Mode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How it was shipped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Quantity, Discount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Units sold and discount given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Order value — what we predict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Money earned on the order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732520" y="1600200"/>
            <a:ext cx="2907792" cy="13716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0" y="201168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Tabl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4884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2640" y="17830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18,041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4505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sales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154680"/>
            <a:ext cx="2907792" cy="13716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0" y="356616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LayerGroup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703320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92640" y="33375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0050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columns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709160"/>
            <a:ext cx="2907792" cy="137160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61120" y="512064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CalendarDays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525780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92640" y="48920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2011–17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5595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time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05 ·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What We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74720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Microchi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2316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057400"/>
            <a:ext cx="23774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5B6680"/>
                </a:solidFill>
                <a:latin typeface="Calibri"/>
              </a:rPr>
              <a:t>Intel i3+</a:t>
            </a:r>
          </a:p>
          <a:p>
            <a:pPr algn="l"/>
            <a:r>
              <a:rPr sz="1600" b="0" i="0">
                <a:solidFill>
                  <a:srgbClr val="5B6680"/>
                </a:solidFill>
                <a:latin typeface="Calibri"/>
              </a:rPr>
              <a:t>Processor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3474720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Memor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3429000"/>
            <a:ext cx="23774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5B6680"/>
                </a:solidFill>
                <a:latin typeface="Calibri"/>
              </a:rPr>
              <a:t>4 GB RAM</a:t>
            </a:r>
          </a:p>
          <a:p>
            <a:pPr algn="l"/>
            <a:r>
              <a:rPr sz="1600" b="0" i="0">
                <a:solidFill>
                  <a:srgbClr val="5B6680"/>
                </a:solidFill>
                <a:latin typeface="Calibri"/>
              </a:rPr>
              <a:t>Minimum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3474720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HardDriv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6636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800600"/>
            <a:ext cx="23774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5B6680"/>
                </a:solidFill>
                <a:latin typeface="Calibri"/>
              </a:rPr>
              <a:t>20 GB</a:t>
            </a:r>
          </a:p>
          <a:p>
            <a:pPr algn="l"/>
            <a:r>
              <a:rPr sz="1600" b="0" i="0">
                <a:solidFill>
                  <a:srgbClr val="5B6680"/>
                </a:solidFill>
                <a:latin typeface="Calibri"/>
              </a:rP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D9692E"/>
                </a:solidFill>
                <a:latin typeface="Calibri"/>
              </a:rPr>
              <a:t>SOFTWARE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9659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2628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Window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42316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57800" y="20574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Windows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Operating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19659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99516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Pytho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423160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26679" y="20574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Python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Language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19659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64040" y="22860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Laptop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2423160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95560" y="20574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Jupyter / Colab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Coding notebook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33375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2628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Tab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794760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257800" y="34290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Pandas &amp; NumPy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Data handling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33375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99516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ChartColum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3794760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726679" y="34290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Matplotlib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Charts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33375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464040" y="36576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FaRobo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0" y="3794760"/>
            <a:ext cx="274320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195560" y="34290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Scikit-learn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Machine learning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7091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2628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FaFileExcel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5166360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257800" y="48006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MS Excel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Dataset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12280" y="47091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99516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FaChartPie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0" y="5166360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726679" y="48006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Power BI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Dashboard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81160" y="4709160"/>
            <a:ext cx="2359152" cy="118872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464040" y="50292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FaGithub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01200" y="5166360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195560" y="4800600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680"/>
                </a:solidFill>
                <a:latin typeface="Calibri"/>
              </a:rPr>
              <a:t>GitHub</a:t>
            </a:r>
          </a:p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Code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06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FileExce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1" y="1970531"/>
            <a:ext cx="283464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3C7A8"/>
                </a:solidFill>
                <a:latin typeface="Cambr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E"/>
                </a:solidFill>
                <a:latin typeface="Calibri"/>
              </a:rPr>
              <a:t>Collect 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96312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52928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81528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1970531"/>
            <a:ext cx="283464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58768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Load Data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00600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57216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85816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48" y="1970531"/>
            <a:ext cx="283464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63056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Explore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04888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461504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90104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Broom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836" y="1970531"/>
            <a:ext cx="283464" cy="2834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67344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Clean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09176" y="2350008"/>
            <a:ext cx="283464" cy="237744"/>
          </a:xfrm>
          <a:prstGeom prst="righ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765792" y="160020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994392" y="182880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WandMagicSparkle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6124" y="1970531"/>
            <a:ext cx="283464" cy="2834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71632" y="187451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256032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Add Features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565892" y="3447288"/>
            <a:ext cx="274320" cy="603503"/>
          </a:xfrm>
          <a:prstGeom prst="down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765792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994392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ChartPi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6124" y="4530852"/>
            <a:ext cx="283464" cy="2834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71632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Analyze &amp; Visualize</a:t>
            </a:r>
          </a:p>
        </p:txBody>
      </p:sp>
      <p:sp>
        <p:nvSpPr>
          <p:cNvPr id="43" name="Left Arrow 42"/>
          <p:cNvSpPr/>
          <p:nvPr/>
        </p:nvSpPr>
        <p:spPr>
          <a:xfrm>
            <a:off x="9409176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461504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90104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FaSlider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836" y="4530852"/>
            <a:ext cx="283464" cy="2834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67344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0104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Prepare for Model</a:t>
            </a:r>
          </a:p>
        </p:txBody>
      </p:sp>
      <p:sp>
        <p:nvSpPr>
          <p:cNvPr id="49" name="Left Arrow 48"/>
          <p:cNvSpPr/>
          <p:nvPr/>
        </p:nvSpPr>
        <p:spPr>
          <a:xfrm>
            <a:off x="7104888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157216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385816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FaScissor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7548" y="4530852"/>
            <a:ext cx="283464" cy="28346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163056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85816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Split 80 / 20</a:t>
            </a:r>
          </a:p>
        </p:txBody>
      </p:sp>
      <p:sp>
        <p:nvSpPr>
          <p:cNvPr id="55" name="Left Arrow 54"/>
          <p:cNvSpPr/>
          <p:nvPr/>
        </p:nvSpPr>
        <p:spPr>
          <a:xfrm>
            <a:off x="4800600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852928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081528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FaRobo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3260" y="4530852"/>
            <a:ext cx="283464" cy="28346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858768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CF6B39"/>
                </a:solidFill>
                <a:latin typeface="Cambria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81528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654"/>
                </a:solidFill>
                <a:latin typeface="Calibri"/>
              </a:rPr>
              <a:t>Train Models</a:t>
            </a:r>
          </a:p>
        </p:txBody>
      </p:sp>
      <p:sp>
        <p:nvSpPr>
          <p:cNvPr id="61" name="Left Arrow 60"/>
          <p:cNvSpPr/>
          <p:nvPr/>
        </p:nvSpPr>
        <p:spPr>
          <a:xfrm>
            <a:off x="2496312" y="4910328"/>
            <a:ext cx="283464" cy="237744"/>
          </a:xfrm>
          <a:prstGeom prst="leftArrow">
            <a:avLst/>
          </a:prstGeom>
          <a:solidFill>
            <a:srgbClr val="A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48640" y="4160520"/>
            <a:ext cx="1874519" cy="1737360"/>
          </a:xfrm>
          <a:prstGeom prst="roundRect">
            <a:avLst>
              <a:gd name="adj" fmla="val 9473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77240" y="438912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FaTrophy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71" y="4530852"/>
            <a:ext cx="283464" cy="28346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554480" y="44348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3C7A8"/>
                </a:solidFill>
                <a:latin typeface="Cambria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512064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E"/>
                </a:solidFill>
                <a:latin typeface="Calibri"/>
              </a:rPr>
              <a:t>Evaluate &amp; Save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Loading &amp; Exploring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852160" cy="2377440"/>
          </a:xfrm>
          <a:prstGeom prst="roundRect">
            <a:avLst>
              <a:gd name="adj" fmla="val 6923"/>
            </a:avLst>
          </a:prstGeom>
          <a:solidFill>
            <a:srgbClr val="1E2633">
              <a:alpha val="100000"/>
            </a:srgbClr>
          </a:solidFill>
          <a:ln w="12700">
            <a:solidFill>
              <a:srgbClr val="1E263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783080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" y="178308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728216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B1C8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5440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C792EA"/>
                </a:solidFill>
                <a:latin typeface="Courier New"/>
              </a:rPr>
              <a:t>import</a:t>
            </a:r>
            <a:r>
              <a:rPr sz="1300">
                <a:solidFill>
                  <a:srgbClr val="E6EDF3"/>
                </a:solidFill>
                <a:latin typeface="Courier New"/>
              </a:rPr>
              <a:t> pandas </a:t>
            </a:r>
            <a:r>
              <a:rPr sz="1300">
                <a:solidFill>
                  <a:srgbClr val="C792EA"/>
                </a:solidFill>
                <a:latin typeface="Courier New"/>
              </a:rPr>
              <a:t>as</a:t>
            </a:r>
            <a:r>
              <a:rPr sz="1300">
                <a:solidFill>
                  <a:srgbClr val="E6EDF3"/>
                </a:solidFill>
                <a:latin typeface="Courier New"/>
              </a:rPr>
              <a:t> pd</a:t>
            </a:r>
          </a:p>
          <a:p>
            <a:r>
              <a:rPr sz="780">
                <a:latin typeface="Courier New"/>
              </a:rPr>
              <a:t> 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df </a:t>
            </a:r>
            <a:r>
              <a:rPr sz="1300">
                <a:solidFill>
                  <a:srgbClr val="89DDFF"/>
                </a:solidFill>
                <a:latin typeface="Courier New"/>
              </a:rPr>
              <a:t>=</a:t>
            </a:r>
            <a:r>
              <a:rPr sz="1300">
                <a:solidFill>
                  <a:srgbClr val="E6EDF3"/>
                </a:solidFill>
                <a:latin typeface="Courier New"/>
              </a:rPr>
              <a:t> pd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read_excel</a:t>
            </a:r>
            <a:r>
              <a:rPr sz="1300">
                <a:solidFill>
                  <a:srgbClr val="B8C2CC"/>
                </a:solidFill>
                <a:latin typeface="Courier New"/>
              </a:rPr>
              <a:t>(</a:t>
            </a:r>
            <a:r>
              <a:rPr sz="1300">
                <a:solidFill>
                  <a:srgbClr val="C3E88D"/>
                </a:solidFill>
                <a:latin typeface="Courier New"/>
              </a:rPr>
              <a:t>"DMart_All_Data_2011_2017.xlsx"</a:t>
            </a:r>
            <a:r>
              <a:rPr sz="1300">
                <a:solidFill>
                  <a:srgbClr val="B8C2CC"/>
                </a:solidFill>
                <a:latin typeface="Courier New"/>
              </a:rPr>
              <a:t>,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                   sheet_name</a:t>
            </a:r>
            <a:r>
              <a:rPr sz="1300">
                <a:solidFill>
                  <a:srgbClr val="89DDFF"/>
                </a:solidFill>
                <a:latin typeface="Courier New"/>
              </a:rPr>
              <a:t>=</a:t>
            </a:r>
            <a:r>
              <a:rPr sz="1300">
                <a:solidFill>
                  <a:srgbClr val="C3E88D"/>
                </a:solidFill>
                <a:latin typeface="Courier New"/>
              </a:rPr>
              <a:t>"All Data"</a:t>
            </a:r>
            <a:r>
              <a:rPr sz="130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df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shape            </a:t>
            </a:r>
            <a:r>
              <a:rPr sz="1300">
                <a:solidFill>
                  <a:srgbClr val="7F8C9D"/>
                </a:solidFill>
                <a:latin typeface="Courier New"/>
              </a:rPr>
              <a:t># (18041, 23)</a:t>
            </a:r>
          </a:p>
          <a:p>
            <a:r>
              <a:rPr sz="1300">
                <a:solidFill>
                  <a:srgbClr val="E6EDF3"/>
                </a:solidFill>
                <a:latin typeface="Courier New"/>
              </a:rPr>
              <a:t>df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isnull</a:t>
            </a:r>
            <a:r>
              <a:rPr sz="1300">
                <a:solidFill>
                  <a:srgbClr val="B8C2CC"/>
                </a:solidFill>
                <a:latin typeface="Courier New"/>
              </a:rPr>
              <a:t>()</a:t>
            </a:r>
            <a:r>
              <a:rPr sz="1300">
                <a:solidFill>
                  <a:srgbClr val="89DDFF"/>
                </a:solidFill>
                <a:latin typeface="Courier New"/>
              </a:rPr>
              <a:t>.</a:t>
            </a:r>
            <a:r>
              <a:rPr sz="1300">
                <a:solidFill>
                  <a:srgbClr val="E6EDF3"/>
                </a:solidFill>
                <a:latin typeface="Courier New"/>
              </a:rPr>
              <a:t>sum</a:t>
            </a:r>
            <a:r>
              <a:rPr sz="1300">
                <a:solidFill>
                  <a:srgbClr val="B8C2CC"/>
                </a:solidFill>
                <a:latin typeface="Courier New"/>
              </a:rPr>
              <a:t>()</a:t>
            </a:r>
            <a:r>
              <a:rPr sz="1300">
                <a:solidFill>
                  <a:srgbClr val="E6EDF3"/>
                </a:solidFill>
                <a:latin typeface="Courier New"/>
              </a:rPr>
              <a:t>   </a:t>
            </a:r>
            <a:r>
              <a:rPr sz="1300">
                <a:solidFill>
                  <a:srgbClr val="7F8C9D"/>
                </a:solidFill>
                <a:latin typeface="Courier New"/>
              </a:rPr>
              <a:t># count empty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852160" cy="2011680"/>
          </a:xfrm>
          <a:prstGeom prst="roundRect">
            <a:avLst>
              <a:gd name="adj" fmla="val 8181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361688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WHAT WE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0060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18,041 rows and 23 columns</a:t>
            </a:r>
          </a:p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Sales, profit, quantity and discount are 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600200"/>
            <a:ext cx="5010912" cy="4572000"/>
          </a:xfrm>
          <a:prstGeom prst="roundRect">
            <a:avLst>
              <a:gd name="adj" fmla="val 359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F6B39"/>
                </a:solidFill>
                <a:latin typeface="Calibri"/>
              </a:rPr>
              <a:t>EMPTY CELLS  ·  DF.ISNULL().SUM()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57400"/>
            <a:ext cx="4599432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1B2654"/>
                </a:solidFill>
                <a:latin typeface="Courier New"/>
              </a:rPr>
              <a:t>Order ID       0    Discount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Order Date     0    Sales   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Customer Name  0    Profit  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Country        0    Quantity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State          0    Feedback?   9994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City           0    Source         0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Region         0    Row ID     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Segment        0    Ship Date  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Ship Mode      0    Customer ID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Category       0    Postal Code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Sub-Category   0    Product ID  8047</a:t>
            </a:r>
          </a:p>
          <a:p>
            <a:r>
              <a:rPr sz="1150">
                <a:solidFill>
                  <a:srgbClr val="1B2654"/>
                </a:solidFill>
                <a:latin typeface="Courier New"/>
              </a:rPr>
              <a:t>Product Name  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Cleaning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6309360" cy="3108960"/>
          </a:xfrm>
          <a:prstGeom prst="roundRect">
            <a:avLst>
              <a:gd name="adj" fmla="val 5294"/>
            </a:avLst>
          </a:prstGeom>
          <a:solidFill>
            <a:srgbClr val="1E2633">
              <a:alpha val="100000"/>
            </a:srgbClr>
          </a:solidFill>
          <a:ln w="12700">
            <a:solidFill>
              <a:srgbClr val="1E263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783080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" y="178308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728216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B1C8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5897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"Order Date"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E6EDF3"/>
                </a:solidFill>
                <a:latin typeface="Courier New"/>
              </a:rPr>
              <a:t>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pd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to_datetime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"Order Date"</a:t>
            </a:r>
            <a:r>
              <a:rPr sz="1200">
                <a:solidFill>
                  <a:srgbClr val="B8C2CC"/>
                </a:solidFill>
                <a:latin typeface="Courier New"/>
              </a:rPr>
              <a:t>],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                                  errors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C3E88D"/>
                </a:solidFill>
                <a:latin typeface="Courier New"/>
              </a:rPr>
              <a:t>"coerce"</a:t>
            </a:r>
            <a:r>
              <a:rPr sz="120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719">
                <a:latin typeface="Courier New"/>
              </a:rPr>
              <a:t> 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mode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"Segment"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mode</a:t>
            </a:r>
            <a:r>
              <a:rPr sz="1200">
                <a:solidFill>
                  <a:srgbClr val="B8C2CC"/>
                </a:solidFill>
                <a:latin typeface="Courier New"/>
              </a:rPr>
              <a:t>()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"Segment"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E6EDF3"/>
                </a:solidFill>
                <a:latin typeface="Courier New"/>
              </a:rPr>
              <a:t>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"Segment"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fillna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mode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F78C6C"/>
                </a:solidFill>
                <a:latin typeface="Courier New"/>
              </a:rPr>
              <a:t>0</a:t>
            </a:r>
            <a:r>
              <a:rPr sz="1200">
                <a:solidFill>
                  <a:srgbClr val="B8C2CC"/>
                </a:solidFill>
                <a:latin typeface="Courier New"/>
              </a:rPr>
              <a:t>])</a:t>
            </a:r>
          </a:p>
          <a:p>
            <a:r>
              <a:rPr sz="719">
                <a:latin typeface="Courier New"/>
              </a:rPr>
              <a:t> 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median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median</a:t>
            </a:r>
            <a:r>
              <a:rPr sz="1200">
                <a:solidFill>
                  <a:srgbClr val="B8C2CC"/>
                </a:solidFill>
                <a:latin typeface="Courier New"/>
              </a:rPr>
              <a:t>()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E6EDF3"/>
                </a:solidFill>
                <a:latin typeface="Courier New"/>
              </a:rPr>
              <a:t> </a:t>
            </a:r>
            <a:r>
              <a:rPr sz="1200">
                <a:solidFill>
                  <a:srgbClr val="89DDFF"/>
                </a:solidFill>
                <a:latin typeface="Courier New"/>
              </a:rPr>
              <a:t>=</a:t>
            </a:r>
            <a:r>
              <a:rPr sz="1200">
                <a:solidFill>
                  <a:srgbClr val="E6EDF3"/>
                </a:solidFill>
                <a:latin typeface="Courier New"/>
              </a:rPr>
              <a:t> 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fillna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median</a:t>
            </a:r>
            <a:r>
              <a:rPr sz="120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719">
                <a:latin typeface="Courier New"/>
              </a:rPr>
              <a:t> </a:t>
            </a:r>
          </a:p>
          <a:p>
            <a:r>
              <a:rPr sz="1200">
                <a:solidFill>
                  <a:srgbClr val="E6EDF3"/>
                </a:solidFill>
                <a:latin typeface="Courier New"/>
              </a:rPr>
              <a:t>plt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boxplot</a:t>
            </a:r>
            <a:r>
              <a:rPr sz="1200">
                <a:solidFill>
                  <a:srgbClr val="B8C2CC"/>
                </a:solidFill>
                <a:latin typeface="Courier New"/>
              </a:rPr>
              <a:t>(</a:t>
            </a:r>
            <a:r>
              <a:rPr sz="1200">
                <a:solidFill>
                  <a:srgbClr val="E6EDF3"/>
                </a:solidFill>
                <a:latin typeface="Courier New"/>
              </a:rPr>
              <a:t>df</a:t>
            </a:r>
            <a:r>
              <a:rPr sz="1200">
                <a:solidFill>
                  <a:srgbClr val="B8C2CC"/>
                </a:solidFill>
                <a:latin typeface="Courier New"/>
              </a:rPr>
              <a:t>[</a:t>
            </a:r>
            <a:r>
              <a:rPr sz="1200">
                <a:solidFill>
                  <a:srgbClr val="C3E88D"/>
                </a:solidFill>
                <a:latin typeface="Courier New"/>
              </a:rPr>
              <a:t>"Sales"</a:t>
            </a:r>
            <a:r>
              <a:rPr sz="1200">
                <a:solidFill>
                  <a:srgbClr val="B8C2CC"/>
                </a:solidFill>
                <a:latin typeface="Courier New"/>
              </a:rPr>
              <a:t>]</a:t>
            </a:r>
            <a:r>
              <a:rPr sz="1200">
                <a:solidFill>
                  <a:srgbClr val="89DDFF"/>
                </a:solidFill>
                <a:latin typeface="Courier New"/>
              </a:rPr>
              <a:t>.</a:t>
            </a:r>
            <a:r>
              <a:rPr sz="1200">
                <a:solidFill>
                  <a:srgbClr val="E6EDF3"/>
                </a:solidFill>
                <a:latin typeface="Courier New"/>
              </a:rPr>
              <a:t>dropna</a:t>
            </a:r>
            <a:r>
              <a:rPr sz="1200">
                <a:solidFill>
                  <a:srgbClr val="B8C2CC"/>
                </a:solidFill>
                <a:latin typeface="Courier New"/>
              </a:rPr>
              <a:t>())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3108960" cy="123444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52806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CalendarDay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17820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5029200"/>
            <a:ext cx="20116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Dates fixed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Text turned into 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937760"/>
            <a:ext cx="3108960" cy="123444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31920" y="52806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PuzzlePiec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541782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3440" y="5029200"/>
            <a:ext cx="20116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Gaps filled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No blanks in key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1600200"/>
            <a:ext cx="4553712" cy="4572000"/>
          </a:xfrm>
          <a:prstGeom prst="roundRect">
            <a:avLst>
              <a:gd name="adj" fmla="val 361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17373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654"/>
                </a:solidFill>
                <a:latin typeface="Calibri"/>
              </a:rPr>
              <a:t>Box plot of Sales</a:t>
            </a:r>
          </a:p>
        </p:txBody>
      </p:sp>
      <p:pic>
        <p:nvPicPr>
          <p:cNvPr id="24" name="Picture 23" descr="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111549"/>
            <a:ext cx="4279392" cy="30006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0" y="525780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654"/>
                </a:solidFill>
                <a:latin typeface="Calibri"/>
              </a:rPr>
              <a:t>Maximum sales: 22,638.48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Adding Useful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5B6680"/>
                </a:solidFill>
                <a:latin typeface="Calibri"/>
              </a:rPr>
              <a:t>New columns created from the existing data (Step 5 in the notebook)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CalendarDay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519172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" y="315467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Year · Month · Day · 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478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Taken from Order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0312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53712" y="235915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Tru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1" y="2519172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315467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Shipping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5478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Ship Date − Order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210312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02751" y="235915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Percen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2" y="2519172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02751" y="315467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Has Discount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1" y="35478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True if Discount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" y="446227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SackDoll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4622292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4672" y="5257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Profit Margin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6509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Profit ÷ Sales × 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420624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53712" y="446227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Ta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731" y="4622292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53712" y="5257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Discount 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6509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Sales × Discount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206240"/>
            <a:ext cx="3566160" cy="1920240"/>
          </a:xfrm>
          <a:prstGeom prst="roundRect">
            <a:avLst>
              <a:gd name="adj" fmla="val 8571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02751" y="446227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LayerGro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2772" y="4622292"/>
            <a:ext cx="320040" cy="3200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02751" y="5257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Order Size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1" y="56509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Low ≤ 100 · Medium ≤ 500 · High &gt; 500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Preparing Data for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Ta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01625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Text →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9 category columns converted to numbers (LabelEncoder)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21024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Scisso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016252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21024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Remove extra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Names, dates, source, feedback and profit columns dropped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37376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Slid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016252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37376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Quantity, discount, date and shipping columns scaled (StandardScaler)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600200"/>
            <a:ext cx="2651760" cy="2743200"/>
          </a:xfrm>
          <a:prstGeom prst="roundRect">
            <a:avLst>
              <a:gd name="adj" fmla="val 6206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53728" y="1856232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Scisso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48" y="2016252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53728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654"/>
                </a:solidFill>
                <a:latin typeface="Calibri"/>
              </a:rPr>
              <a:t>Split the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044952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680"/>
                </a:solidFill>
                <a:latin typeface="Calibri"/>
              </a:rPr>
              <a:t>80% training, 20% testing (random_state = 42)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3566160" cy="1600200"/>
          </a:xfrm>
          <a:prstGeom prst="roundRect">
            <a:avLst>
              <a:gd name="adj" fmla="val 1028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663440"/>
            <a:ext cx="3383279" cy="92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D9692E"/>
                </a:solidFill>
                <a:latin typeface="Cambria"/>
              </a:rPr>
              <a:t>14,432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8132"/>
            <a:ext cx="3383279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680"/>
                </a:solidFill>
                <a:latin typeface="Calibri"/>
              </a:rPr>
              <a:t>rows to 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4572000"/>
            <a:ext cx="3566160" cy="1600200"/>
          </a:xfrm>
          <a:prstGeom prst="roundRect">
            <a:avLst>
              <a:gd name="adj" fmla="val 1028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19" y="4663440"/>
            <a:ext cx="3383279" cy="92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D9692E"/>
                </a:solidFill>
                <a:latin typeface="Cambria"/>
              </a:rPr>
              <a:t>3,609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19" y="5628132"/>
            <a:ext cx="3383279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680"/>
                </a:solidFill>
                <a:latin typeface="Calibri"/>
              </a:rPr>
              <a:t>rows to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572000"/>
            <a:ext cx="3566160" cy="1600200"/>
          </a:xfrm>
          <a:prstGeom prst="roundRect">
            <a:avLst>
              <a:gd name="adj" fmla="val 1028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59" y="4663440"/>
            <a:ext cx="3383279" cy="92811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D9692E"/>
                </a:solidFill>
                <a:latin typeface="Cambria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5628132"/>
            <a:ext cx="3383279" cy="4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680"/>
                </a:solidFill>
                <a:latin typeface="Calibri"/>
              </a:rPr>
              <a:t>input columns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07 ·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Training &amp; Saving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6583680" cy="4572000"/>
          </a:xfrm>
          <a:prstGeom prst="roundRect">
            <a:avLst>
              <a:gd name="adj" fmla="val 3599"/>
            </a:avLst>
          </a:prstGeom>
          <a:solidFill>
            <a:srgbClr val="1E2633">
              <a:alpha val="100000"/>
            </a:srgbClr>
          </a:solidFill>
          <a:ln w="12700">
            <a:solidFill>
              <a:srgbClr val="1E263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783080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" y="1783080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728216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7B1C8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6172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C792EA"/>
                </a:solidFill>
                <a:latin typeface="Courier New"/>
              </a:rPr>
              <a:t>from</a:t>
            </a:r>
            <a:r>
              <a:rPr sz="1150">
                <a:solidFill>
                  <a:srgbClr val="E6EDF3"/>
                </a:solidFill>
                <a:latin typeface="Courier New"/>
              </a:rPr>
              <a:t> sklearn.linear_model </a:t>
            </a:r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LinearRegression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 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E6EDF3"/>
                </a:solidFill>
                <a:latin typeface="Courier New"/>
              </a:rPr>
              <a:t> LinearRegression</a:t>
            </a:r>
            <a:r>
              <a:rPr sz="1150">
                <a:solidFill>
                  <a:srgbClr val="B8C2CC"/>
                </a:solidFill>
                <a:latin typeface="Courier New"/>
              </a:rPr>
              <a:t>()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fit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X_train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y_train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690">
                <a:latin typeface="Courier New"/>
              </a:rPr>
              <a:t> 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from</a:t>
            </a:r>
            <a:r>
              <a:rPr sz="1150">
                <a:solidFill>
                  <a:srgbClr val="E6EDF3"/>
                </a:solidFill>
                <a:latin typeface="Courier New"/>
              </a:rPr>
              <a:t> sklearn.tree </a:t>
            </a:r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DecisionTreeRegressor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model_dt 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E6EDF3"/>
                </a:solidFill>
                <a:latin typeface="Courier New"/>
              </a:rPr>
              <a:t> DecisionTreeRegressor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random_state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F78C6C"/>
                </a:solidFill>
                <a:latin typeface="Courier New"/>
              </a:rPr>
              <a:t>42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model_dt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fit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X_train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y_train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690">
                <a:latin typeface="Courier New"/>
              </a:rPr>
              <a:t> 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from</a:t>
            </a:r>
            <a:r>
              <a:rPr sz="1150">
                <a:solidFill>
                  <a:srgbClr val="E6EDF3"/>
                </a:solidFill>
                <a:latin typeface="Courier New"/>
              </a:rPr>
              <a:t> sklearn.ensemble </a:t>
            </a:r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RandomForestRegressor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model_rf 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E6EDF3"/>
                </a:solidFill>
                <a:latin typeface="Courier New"/>
              </a:rPr>
              <a:t> RandomForestRegressor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n_estimators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F78C6C"/>
                </a:solidFill>
                <a:latin typeface="Courier New"/>
              </a:rPr>
              <a:t>100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                                 random_state</a:t>
            </a:r>
            <a:r>
              <a:rPr sz="1150">
                <a:solidFill>
                  <a:srgbClr val="89DDFF"/>
                </a:solidFill>
                <a:latin typeface="Courier New"/>
              </a:rPr>
              <a:t>=</a:t>
            </a:r>
            <a:r>
              <a:rPr sz="1150">
                <a:solidFill>
                  <a:srgbClr val="F78C6C"/>
                </a:solidFill>
                <a:latin typeface="Courier New"/>
              </a:rPr>
              <a:t>42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model_rf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fit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X_train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y_train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  <a:p>
            <a:r>
              <a:rPr sz="690">
                <a:latin typeface="Courier New"/>
              </a:rPr>
              <a:t> 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import</a:t>
            </a:r>
            <a:r>
              <a:rPr sz="1150">
                <a:solidFill>
                  <a:srgbClr val="E6EDF3"/>
                </a:solidFill>
                <a:latin typeface="Courier New"/>
              </a:rPr>
              <a:t> pickle</a:t>
            </a:r>
          </a:p>
          <a:p>
            <a:r>
              <a:rPr sz="1150">
                <a:solidFill>
                  <a:srgbClr val="C792EA"/>
                </a:solidFill>
                <a:latin typeface="Courier New"/>
              </a:rPr>
              <a:t>with</a:t>
            </a:r>
            <a:r>
              <a:rPr sz="1150">
                <a:solidFill>
                  <a:srgbClr val="E6EDF3"/>
                </a:solidFill>
                <a:latin typeface="Courier New"/>
              </a:rPr>
              <a:t> </a:t>
            </a:r>
            <a:r>
              <a:rPr sz="1150">
                <a:solidFill>
                  <a:srgbClr val="82AAFF"/>
                </a:solidFill>
                <a:latin typeface="Courier New"/>
              </a:rPr>
              <a:t>open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C3E88D"/>
                </a:solidFill>
                <a:latin typeface="Courier New"/>
              </a:rPr>
              <a:t>"dmart_sales_model.pkl"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</a:t>
            </a:r>
            <a:r>
              <a:rPr sz="1150">
                <a:solidFill>
                  <a:srgbClr val="C3E88D"/>
                </a:solidFill>
                <a:latin typeface="Courier New"/>
              </a:rPr>
              <a:t>"wb"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  <a:r>
              <a:rPr sz="1150">
                <a:solidFill>
                  <a:srgbClr val="E6EDF3"/>
                </a:solidFill>
                <a:latin typeface="Courier New"/>
              </a:rPr>
              <a:t> </a:t>
            </a:r>
            <a:r>
              <a:rPr sz="1150">
                <a:solidFill>
                  <a:srgbClr val="C792EA"/>
                </a:solidFill>
                <a:latin typeface="Courier New"/>
              </a:rPr>
              <a:t>as</a:t>
            </a:r>
            <a:r>
              <a:rPr sz="1150">
                <a:solidFill>
                  <a:srgbClr val="E6EDF3"/>
                </a:solidFill>
                <a:latin typeface="Courier New"/>
              </a:rPr>
              <a:t> file</a:t>
            </a:r>
            <a:r>
              <a:rPr sz="1150">
                <a:solidFill>
                  <a:srgbClr val="B8C2CC"/>
                </a:solidFill>
                <a:latin typeface="Courier New"/>
              </a:rPr>
              <a:t>:</a:t>
            </a:r>
          </a:p>
          <a:p>
            <a:r>
              <a:rPr sz="1150">
                <a:solidFill>
                  <a:srgbClr val="E6EDF3"/>
                </a:solidFill>
                <a:latin typeface="Courier New"/>
              </a:rPr>
              <a:t>    pickle</a:t>
            </a:r>
            <a:r>
              <a:rPr sz="1150">
                <a:solidFill>
                  <a:srgbClr val="89DDFF"/>
                </a:solidFill>
                <a:latin typeface="Courier New"/>
              </a:rPr>
              <a:t>.</a:t>
            </a:r>
            <a:r>
              <a:rPr sz="1150">
                <a:solidFill>
                  <a:srgbClr val="E6EDF3"/>
                </a:solidFill>
                <a:latin typeface="Courier New"/>
              </a:rPr>
              <a:t>dump</a:t>
            </a:r>
            <a:r>
              <a:rPr sz="1150">
                <a:solidFill>
                  <a:srgbClr val="B8C2CC"/>
                </a:solidFill>
                <a:latin typeface="Courier New"/>
              </a:rPr>
              <a:t>(</a:t>
            </a:r>
            <a:r>
              <a:rPr sz="1150">
                <a:solidFill>
                  <a:srgbClr val="E6EDF3"/>
                </a:solidFill>
                <a:latin typeface="Courier New"/>
              </a:rPr>
              <a:t>model_rf</a:t>
            </a:r>
            <a:r>
              <a:rPr sz="1150">
                <a:solidFill>
                  <a:srgbClr val="B8C2CC"/>
                </a:solidFill>
                <a:latin typeface="Courier New"/>
              </a:rPr>
              <a:t>,</a:t>
            </a:r>
            <a:r>
              <a:rPr sz="1150">
                <a:solidFill>
                  <a:srgbClr val="E6EDF3"/>
                </a:solidFill>
                <a:latin typeface="Courier New"/>
              </a:rPr>
              <a:t> file</a:t>
            </a:r>
            <a:r>
              <a:rPr sz="1150">
                <a:solidFill>
                  <a:srgbClr val="B8C2CC"/>
                </a:solidFill>
                <a:latin typeface="Courier New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00200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543800" y="185166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Chart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988819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75320" y="1691640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Linear Regression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LinearRegression()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788920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43800" y="3040379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List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177539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75320" y="2880360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Decision Tree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random_state = 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977639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43800" y="422910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Troph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36626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5320" y="4069079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Random Forest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n_estimators = 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5166360"/>
            <a:ext cx="4279392" cy="105156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43800" y="5417820"/>
            <a:ext cx="548640" cy="54864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FloppyDis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5554980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5320" y="5257800"/>
            <a:ext cx="3182111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B6680"/>
                </a:solidFill>
                <a:latin typeface="Calibri"/>
              </a:rPr>
              <a:t>Saved model</a:t>
            </a:r>
          </a:p>
          <a:p>
            <a:pPr algn="l"/>
            <a:r>
              <a:rPr sz="1500" b="0" i="0">
                <a:solidFill>
                  <a:srgbClr val="5B6680"/>
                </a:solidFill>
                <a:latin typeface="Calibri"/>
              </a:rPr>
              <a:t>dmart_sales_model.pkl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Sales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SackDollar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1" y="2125979"/>
            <a:ext cx="283464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4,645,683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Total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93592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ArrowTrendUp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2125979"/>
            <a:ext cx="283464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25112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569,637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Total profit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9944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CartShopping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2125979"/>
            <a:ext cx="283464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1464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257.51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Average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60020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26296" y="1984248"/>
            <a:ext cx="566928" cy="566928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BoxOpen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2125979"/>
            <a:ext cx="283464" cy="2834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57816" y="173736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6" y="2468880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680"/>
                </a:solidFill>
                <a:latin typeface="Calibri"/>
              </a:rPr>
              <a:t>Most common quantity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54680"/>
            <a:ext cx="6858000" cy="301752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2911" y="3246120"/>
            <a:ext cx="3669457" cy="28346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635240" y="3154680"/>
            <a:ext cx="4005072" cy="3017520"/>
          </a:xfrm>
          <a:prstGeom prst="roundRect">
            <a:avLst>
              <a:gd name="adj" fmla="val 5454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3355848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794760"/>
            <a:ext cx="345643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Most orders are small</a:t>
            </a:r>
          </a:p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A few big orders push totals up</a:t>
            </a:r>
          </a:p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Orders range from 0.44 to 22,638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Sales and Profit by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4068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ales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398" y="1645920"/>
            <a:ext cx="3921162" cy="3291840"/>
          </a:xfrm>
          <a:prstGeom prst="rect">
            <a:avLst/>
          </a:prstGeom>
        </p:spPr>
      </p:pic>
      <p:pic>
        <p:nvPicPr>
          <p:cNvPr id="11" name="Picture 10" descr="profit_y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56" y="1645920"/>
            <a:ext cx="4128631" cy="3291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413248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852160"/>
            <a:ext cx="105430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1" i="0">
                <a:solidFill>
                  <a:srgbClr val="1B2654"/>
                </a:solidFill>
                <a:latin typeface="Calibri"/>
              </a:rPr>
              <a:t>2014 was the best year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 — sales 1,239,278 and profit 134,874. Sales dipped in 2015, then grew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Which Products Sell Best?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749039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56616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4" y="1645920"/>
            <a:ext cx="3401850" cy="3291840"/>
          </a:xfrm>
          <a:prstGeom prst="rect">
            <a:avLst/>
          </a:prstGeom>
        </p:spPr>
      </p:pic>
      <p:pic>
        <p:nvPicPr>
          <p:cNvPr id="11" name="Picture 10" descr="sales_c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734502"/>
            <a:ext cx="3291840" cy="3114675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0" y="1554480"/>
          <a:ext cx="34107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E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E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E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1,722,169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254,009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Office Supplies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1,542,705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247,443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1,380,809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B2654"/>
                          </a:solidFill>
                          <a:latin typeface="Calibri"/>
                        </a:rPr>
                        <a:t>68,185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0" y="3703320"/>
            <a:ext cx="341071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680"/>
                </a:solidFill>
                <a:latin typeface="Calibri"/>
              </a:rPr>
              <a:t>Most ordered: </a:t>
            </a:r>
            <a:r>
              <a:rPr sz="1400" b="1" i="0">
                <a:solidFill>
                  <a:srgbClr val="5B6680"/>
                </a:solidFill>
                <a:latin typeface="Calibri"/>
              </a:rPr>
              <a:t>Binders</a:t>
            </a:r>
            <a:r>
              <a:rPr sz="1400" b="0" i="0">
                <a:solidFill>
                  <a:srgbClr val="5B6680"/>
                </a:solidFill>
                <a:latin typeface="Calibri"/>
              </a:rPr>
              <a:t> (2,582), </a:t>
            </a:r>
            <a:r>
              <a:rPr sz="1400" b="1" i="0">
                <a:solidFill>
                  <a:srgbClr val="5B6680"/>
                </a:solidFill>
                <a:latin typeface="Calibri"/>
              </a:rPr>
              <a:t>Art</a:t>
            </a:r>
            <a:r>
              <a:rPr sz="1400" b="0" i="0">
                <a:solidFill>
                  <a:srgbClr val="5B6680"/>
                </a:solidFill>
                <a:latin typeface="Calibri"/>
              </a:rPr>
              <a:t> (1,948), </a:t>
            </a:r>
            <a:r>
              <a:rPr sz="1400" b="1" i="0">
                <a:solidFill>
                  <a:srgbClr val="5B6680"/>
                </a:solidFill>
                <a:latin typeface="Calibri"/>
              </a:rPr>
              <a:t>Storage</a:t>
            </a:r>
            <a:r>
              <a:rPr sz="1400" b="0" i="0">
                <a:solidFill>
                  <a:srgbClr val="5B6680"/>
                </a:solidFill>
                <a:latin typeface="Calibri"/>
              </a:rPr>
              <a:t> (1,897)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5413248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852160"/>
            <a:ext cx="105430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Office Supplies are ordered most (62.7%), but </a:t>
            </a:r>
            <a:r>
              <a:rPr sz="1500" b="1" i="0">
                <a:solidFill>
                  <a:srgbClr val="1B2654"/>
                </a:solidFill>
                <a:latin typeface="Calibri"/>
              </a:rPr>
              <a:t>Technology brings the most sales and profit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Who Buys and Where?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402336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3931920" cy="3474720"/>
          </a:xfrm>
          <a:prstGeom prst="roundRect">
            <a:avLst>
              <a:gd name="adj" fmla="val 47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g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53" y="1645920"/>
            <a:ext cx="3630332" cy="3291840"/>
          </a:xfrm>
          <a:prstGeom prst="rect">
            <a:avLst/>
          </a:prstGeom>
        </p:spPr>
      </p:pic>
      <p:pic>
        <p:nvPicPr>
          <p:cNvPr id="11" name="Picture 10" descr="sales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2915"/>
            <a:ext cx="3657600" cy="3117849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869680" y="1554480"/>
          <a:ext cx="277063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E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E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197,342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108,418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100,914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91,523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B2654"/>
                          </a:solidFill>
                          <a:latin typeface="Calibri"/>
                        </a:rPr>
                        <a:t>71,439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413248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852160"/>
            <a:ext cx="105430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1" i="0">
                <a:solidFill>
                  <a:srgbClr val="1B2654"/>
                </a:solidFill>
                <a:latin typeface="Calibri"/>
              </a:rPr>
              <a:t>Consumers place over half of all orders.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 The </a:t>
            </a:r>
            <a:r>
              <a:rPr sz="1500" b="1" i="0">
                <a:solidFill>
                  <a:srgbClr val="1B2654"/>
                </a:solidFill>
                <a:latin typeface="Calibri"/>
              </a:rPr>
              <a:t>Central region</a:t>
            </a:r>
            <a:r>
              <a:rPr sz="1500" b="0" i="0">
                <a:solidFill>
                  <a:srgbClr val="1B2654"/>
                </a:solidFill>
                <a:latin typeface="Calibri"/>
              </a:rPr>
              <a:t> brings in the most sales and profit.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Do Discounts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35661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Discount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Avg. 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65.33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74.24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53.30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24.43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−41.21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−88.56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−225.14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−93.85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43400" y="1554480"/>
          <a:ext cx="35661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Discount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Avg. profit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−276.70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−102.07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−89.29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−375.71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−107.48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−102.19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−1,925.00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680"/>
                </a:solidFill>
                <a:latin typeface="Calibri"/>
              </a:rPr>
              <a:t>Output of df.groupby("Discount")["Profit"].mean()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410712" cy="2194560"/>
          </a:xfrm>
          <a:prstGeom prst="roundRect">
            <a:avLst>
              <a:gd name="adj" fmla="val 75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41071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38497F"/>
                </a:solidFill>
                <a:latin typeface="Cambria"/>
              </a:rPr>
              <a:t>≤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40"/>
            <a:ext cx="3410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B2654"/>
                </a:solidFill>
                <a:latin typeface="Calibri"/>
              </a:rPr>
              <a:t>discount → still profitable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977639"/>
            <a:ext cx="3410712" cy="2194560"/>
          </a:xfrm>
          <a:prstGeom prst="roundRect">
            <a:avLst>
              <a:gd name="adj" fmla="val 75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41071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D9692E"/>
                </a:solidFill>
                <a:latin typeface="Cambria"/>
              </a:rPr>
              <a:t>&gt;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257800"/>
            <a:ext cx="3410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B2654"/>
                </a:solidFill>
                <a:latin typeface="Calibri"/>
              </a:rPr>
              <a:t>discount → loss on average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Bigger Baskets, Bigger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760720" cy="4617720"/>
          </a:xfrm>
          <a:prstGeom prst="roundRect">
            <a:avLst>
              <a:gd name="adj" fmla="val 356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ty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3748"/>
            <a:ext cx="5486400" cy="41191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1600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92E"/>
                </a:solidFill>
                <a:latin typeface="Calibri"/>
              </a:rPr>
              <a:t>SALES BY REGION AND CATEGORY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2011680"/>
          <a:ext cx="50566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Office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E"/>
                          </a:solidFill>
                          <a:latin typeface="Calibri"/>
                        </a:rPr>
                        <a:t>Tech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535,711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609,594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671,187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208,291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205,516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264,974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136,742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176,786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202,451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247,452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329,955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331,565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252,613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220,853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B2654"/>
                          </a:solidFill>
                          <a:latin typeface="Calibri"/>
                        </a:rPr>
                        <a:t>251,992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0" y="4983480"/>
            <a:ext cx="5056632" cy="1188720"/>
          </a:xfrm>
          <a:prstGeom prst="roundRect">
            <a:avLst>
              <a:gd name="adj" fmla="val 12000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5184648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CF6B39"/>
                </a:solidFill>
                <a:latin typeface="Calibri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23560"/>
            <a:ext cx="45079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19456">
              <a:spcAft>
                <a:spcPts val="800"/>
              </a:spcAft>
              <a:buClr>
                <a:srgbClr val="D9692E"/>
              </a:buClr>
              <a:buFont typeface="Arial"/>
              <a:buChar char="■"/>
            </a:pPr>
            <a:r>
              <a:rPr sz="1500" b="0" i="0">
                <a:solidFill>
                  <a:srgbClr val="1B2654"/>
                </a:solidFill>
                <a:latin typeface="Calibri"/>
              </a:rPr>
              <a:t>More items per order = higher order value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Top 10 Products by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7863840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E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E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FFFFFE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109728" marR="109728" marT="27432" marB="27432" anchor="ctr">
                    <a:solidFill>
                      <a:srgbClr val="3849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Canon imageCLASS 2200 Advanced Copier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61,599.82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Nokia Smart Phone, Full Size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30,645.00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Fellowes PB500 Electric Punch Plastic Comb Binding Machine with Manual Bind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27,453.38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Cisco TelePresence System EX90 Videoconferencing Unit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22,638.48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HON 5400 Series Task Chairs for Big and Tall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21,870.58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GBC DocuBind TL300 Electric Binding System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19,823.48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GBC Ibimaster 500 Manual ProClick Binding System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19,024.50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Hewlett Packard LaserJet 3310 Copier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18,839.69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HP Designjet T520 Inkjet Large Format Printer - 24" Color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18,374.90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GBC DocuBind P400 Electric Binding System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B2654"/>
                          </a:solidFill>
                          <a:latin typeface="Calibri"/>
                        </a:rPr>
                        <a:t>17,965.07</a:t>
                      </a:r>
                    </a:p>
                  </a:txBody>
                  <a:tcPr marL="109728" marR="109728" marT="27432" marB="27432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41080" y="1554480"/>
            <a:ext cx="2999232" cy="4617720"/>
          </a:xfrm>
          <a:prstGeom prst="roundRect">
            <a:avLst>
              <a:gd name="adj" fmla="val 5487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2011680"/>
            <a:ext cx="299923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i="0">
                <a:solidFill>
                  <a:srgbClr val="D9692E"/>
                </a:solidFill>
                <a:latin typeface="Cambria"/>
              </a:rPr>
              <a:t>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2004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B2654"/>
                </a:solidFill>
                <a:latin typeface="Calibri"/>
              </a:rPr>
              <a:t>The Canon copier sold double the next best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480560"/>
            <a:ext cx="2468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B6680"/>
                </a:solidFill>
                <a:latin typeface="Calibri"/>
              </a:rPr>
              <a:t>Office machines and tech items fill the top 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Which Model Predicts Best?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66160" cy="3520440"/>
          </a:xfrm>
          <a:prstGeom prst="roundRect">
            <a:avLst>
              <a:gd name="adj" fmla="val 467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87451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ChartLin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34539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2697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Linear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Average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661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267.69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Accuracy (R²)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0.21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600200"/>
            <a:ext cx="3566160" cy="3520440"/>
          </a:xfrm>
          <a:prstGeom prst="roundRect">
            <a:avLst>
              <a:gd name="adj" fmla="val 4675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1999" y="1874519"/>
            <a:ext cx="640080" cy="64008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ListCheck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19" y="2034539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1999" y="2697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Decision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Average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5661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137.39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Accuracy (R²)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654"/>
                </a:solidFill>
                <a:latin typeface="Cambria"/>
              </a:rPr>
              <a:t>0.14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600200"/>
            <a:ext cx="3566160" cy="3520440"/>
          </a:xfrm>
          <a:prstGeom prst="roundRect">
            <a:avLst>
              <a:gd name="adj" fmla="val 4675"/>
            </a:avLst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21040" y="1874519"/>
            <a:ext cx="640080" cy="640080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Troph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034539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2654"/>
                </a:solidFill>
                <a:latin typeface="Calibri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Average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661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108.41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2461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680"/>
                </a:solidFill>
                <a:latin typeface="Calibri"/>
              </a:rPr>
              <a:t>Accuracy (R²)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D9692E"/>
                </a:solidFill>
                <a:latin typeface="Cambria"/>
              </a:rPr>
              <a:t>0.50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434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D9692E"/>
                </a:solidFill>
                <a:latin typeface="Calibri"/>
              </a:rPr>
              <a:t>★ BEST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2000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E"/>
                </a:solidFill>
                <a:latin typeface="Calibri"/>
              </a:rPr>
              <a:t>Random Forest wins</a:t>
            </a:r>
            <a:r>
              <a:rPr sz="1600" b="0" i="0">
                <a:solidFill>
                  <a:srgbClr val="FFFFFE"/>
                </a:solidFill>
                <a:latin typeface="Calibri"/>
              </a:rPr>
              <a:t> — lowest error and highest score. Saved as dmart_sales_model.pkl for predictions.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20072" y="384048"/>
            <a:ext cx="1920240" cy="402336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470662"/>
            <a:ext cx="1773936" cy="229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CF6B39"/>
                </a:solidFill>
                <a:latin typeface="Calibri"/>
              </a:rPr>
              <a:t>09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654"/>
                </a:solidFill>
                <a:latin typeface="Cambria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680"/>
                </a:solidFill>
                <a:latin typeface="Calibri"/>
              </a:rPr>
              <a:t>Smart Retail Sales Analysis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B6680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CalendarDays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468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was the best sales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0" y="182880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BoxesStacked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6596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20" y="2468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earns the most profit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LocationDo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343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Central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79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is the top region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474720"/>
            <a:ext cx="3474720" cy="1691640"/>
          </a:xfrm>
          <a:prstGeom prst="roundRect">
            <a:avLst>
              <a:gd name="adj" fmla="val 9729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89120" y="3703320"/>
            <a:ext cx="548640" cy="548640"/>
          </a:xfrm>
          <a:prstGeom prst="ellipse">
            <a:avLst/>
          </a:prstGeom>
          <a:solidFill>
            <a:srgbClr val="FDF0E7">
              <a:alpha val="100000"/>
            </a:srgbClr>
          </a:solidFill>
          <a:ln w="12700">
            <a:solidFill>
              <a:srgbClr val="F3C7A8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Percent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840480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89120" y="4343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9692E"/>
                </a:solidFill>
                <a:latin typeface="Cambria"/>
              </a:rPr>
              <a:t>≤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754879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B6680"/>
                </a:solidFill>
                <a:latin typeface="Calibri"/>
              </a:rPr>
              <a:t>discount keeps orders profitable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7086600" cy="777240"/>
          </a:xfrm>
          <a:prstGeom prst="roundRect">
            <a:avLst>
              <a:gd name="adj" fmla="val 12000"/>
            </a:avLst>
          </a:prstGeom>
          <a:solidFill>
            <a:srgbClr val="F4F6FB">
              <a:alpha val="100000"/>
            </a:srgbClr>
          </a:solidFill>
          <a:ln w="12700">
            <a:solidFill>
              <a:srgbClr val="E3E8F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6675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B2654"/>
                </a:solidFill>
                <a:latin typeface="Calibri"/>
              </a:rPr>
              <a:t>Best model: </a:t>
            </a:r>
            <a:r>
              <a:rPr sz="1600" b="1" i="0">
                <a:solidFill>
                  <a:srgbClr val="1B2654"/>
                </a:solidFill>
                <a:latin typeface="Calibri"/>
              </a:rPr>
              <a:t>Random Forest</a:t>
            </a:r>
            <a:r>
              <a:rPr sz="1600" b="0" i="0">
                <a:solidFill>
                  <a:srgbClr val="1B2654"/>
                </a:solidFill>
                <a:latin typeface="Calibri"/>
              </a:rPr>
              <a:t>, saved for sales prediction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1600200"/>
            <a:ext cx="3776472" cy="4572000"/>
          </a:xfrm>
          <a:prstGeom prst="roundRect">
            <a:avLst>
              <a:gd name="adj" fmla="val 4358"/>
            </a:avLst>
          </a:prstGeom>
          <a:solidFill>
            <a:srgbClr val="38497F">
              <a:alpha val="100000"/>
            </a:srgbClr>
          </a:solidFill>
          <a:ln w="12700">
            <a:solidFill>
              <a:srgbClr val="38497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0" y="18288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3C7A8"/>
                </a:solidFill>
                <a:latin typeface="Calibri"/>
              </a:rPr>
              <a:t>DEPLOYMENT</a:t>
            </a:r>
          </a:p>
        </p:txBody>
      </p:sp>
      <p:sp>
        <p:nvSpPr>
          <p:cNvPr id="32" name="Oval 31"/>
          <p:cNvSpPr/>
          <p:nvPr/>
        </p:nvSpPr>
        <p:spPr>
          <a:xfrm>
            <a:off x="8138160" y="237744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ChartP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9892" y="2519172"/>
            <a:ext cx="283464" cy="2834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69680" y="237744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E"/>
                </a:solidFill>
                <a:latin typeface="Calibri"/>
              </a:rPr>
              <a:t>Power BI dashboard</a:t>
            </a:r>
          </a:p>
        </p:txBody>
      </p:sp>
      <p:sp>
        <p:nvSpPr>
          <p:cNvPr id="35" name="Oval 34"/>
          <p:cNvSpPr/>
          <p:nvPr/>
        </p:nvSpPr>
        <p:spPr>
          <a:xfrm>
            <a:off x="8138160" y="356616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Laptop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9892" y="3707892"/>
            <a:ext cx="283464" cy="2834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69680" y="356616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E"/>
                </a:solidFill>
                <a:latin typeface="Calibri"/>
              </a:rPr>
              <a:t>Web app for predictions</a:t>
            </a:r>
          </a:p>
        </p:txBody>
      </p:sp>
      <p:sp>
        <p:nvSpPr>
          <p:cNvPr id="38" name="Oval 37"/>
          <p:cNvSpPr/>
          <p:nvPr/>
        </p:nvSpPr>
        <p:spPr>
          <a:xfrm>
            <a:off x="8138160" y="4754880"/>
            <a:ext cx="566928" cy="566928"/>
          </a:xfrm>
          <a:prstGeom prst="ellipse">
            <a:avLst/>
          </a:prstGeom>
          <a:solidFill>
            <a:srgbClr val="CF6B39">
              <a:alpha val="100000"/>
            </a:srgbClr>
          </a:solidFill>
          <a:ln w="12700">
            <a:solidFill>
              <a:srgbClr val="CF6B39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FaFloppyDis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9892" y="4896612"/>
            <a:ext cx="283464" cy="2834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69680" y="475488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E"/>
                </a:solidFill>
                <a:latin typeface="Calibri"/>
              </a:rPr>
              <a:t>Model saved (.pkl)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53128" y="914400"/>
            <a:ext cx="3291840" cy="566928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1E6E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999462"/>
            <a:ext cx="3072384" cy="396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03120"/>
            <a:ext cx="110916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1B2654"/>
                </a:solidFill>
                <a:latin typeface="Cambr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D9692E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B6680"/>
                </a:solidFill>
                <a:latin typeface="Calibri"/>
              </a:rPr>
              <a:t>S. Leela Venkata Krishna Reddy   ·   P. Surya Akhil   ·   K. Surya Raja Mokshagna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A7B1C8"/>
                </a:solidFill>
                <a:latin typeface="Calibri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1801</Words>
  <Application>Microsoft Office PowerPoint</Application>
  <PresentationFormat>Widescreen</PresentationFormat>
  <Paragraphs>508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AKHIL</cp:lastModifiedBy>
  <cp:revision>2</cp:revision>
  <dcterms:created xsi:type="dcterms:W3CDTF">2013-01-27T09:14:16Z</dcterms:created>
  <dcterms:modified xsi:type="dcterms:W3CDTF">2026-09-27T15:25:00Z</dcterms:modified>
  <cp:category/>
</cp:coreProperties>
</file>